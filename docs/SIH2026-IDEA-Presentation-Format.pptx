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pi.imd.gov.in/" TargetMode="External"/><Relationship Id="rId13" Type="http://schemas.openxmlformats.org/officeDocument/2006/relationships/hyperlink" Target="https://arxiv.org/pdf/2411.10050" TargetMode="External"/><Relationship Id="rId3" Type="http://schemas.openxmlformats.org/officeDocument/2006/relationships/hyperlink" Target="https://webrtc.ventures/2022/05/webrtc-with-mediasoup/" TargetMode="External"/><Relationship Id="rId7" Type="http://schemas.openxmlformats.org/officeDocument/2006/relationships/hyperlink" Target="https://pub.dev/packages/flutter_webrtc" TargetMode="External"/><Relationship Id="rId12" Type="http://schemas.openxmlformats.org/officeDocument/2006/relationships/hyperlink" Target="https://open-meteo.com/en/docs/marine-weather-api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huvan.nrsc.gov.in/" TargetMode="External"/><Relationship Id="rId11" Type="http://schemas.openxmlformats.org/officeDocument/2006/relationships/hyperlink" Target="https://incois.gov.in/site/services/osf.jsp" TargetMode="External"/><Relationship Id="rId5" Type="http://schemas.openxmlformats.org/officeDocument/2006/relationships/hyperlink" Target="https://mosdac.gov.in/" TargetMode="External"/><Relationship Id="rId10" Type="http://schemas.openxmlformats.org/officeDocument/2006/relationships/hyperlink" Target="https://incois.gov.in/MarineFisheries/TextDataHome" TargetMode="External"/><Relationship Id="rId4" Type="http://schemas.openxmlformats.org/officeDocument/2006/relationships/hyperlink" Target="https://incois.gov.in/site/dataholdings.jsp" TargetMode="External"/><Relationship Id="rId9" Type="http://schemas.openxmlformats.org/officeDocument/2006/relationships/hyperlink" Target="https://incois.gov.in/MarineFisheries/PfzWebGis" TargetMode="External"/><Relationship Id="rId1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902713"/>
            <a:ext cx="6929050" cy="487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SIH26176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ORCA Marine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EcOsystem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Reasoning with Collaborative Agents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Don't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Expecto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CA55DB1-F745-7E82-7C7F-9CD007B288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087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Don't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Expecto</a:t>
            </a:r>
            <a:endParaRPr lang="en-IN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DEE0A9A0-4821-E984-B4A9-00E59A08E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71" y="1141302"/>
            <a:ext cx="12062677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Arial" panose="020B0604020202020204" pitchFamily="34" charset="0"/>
                <a:cs typeface="Arial" pitchFamily="34" charset="0"/>
              </a:rPr>
              <a:t>Proposed Solution 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conversational, multi-agent AI platform that fuses live satellite, weather, and ocean advisory data into one natural-language interface. A fisherman can ask "is it safe to fish tomorrow near me?" and get a single explainable answer instead of manually cross-checking INCOIS's PFZ map, IMD's cyclone bulletin, and the ocean state forecast separately.</a:t>
            </a:r>
          </a:p>
          <a:p>
            <a:pPr algn="just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Overview: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Today, PFZ advisories, cyclone/lightning warnings, and ocean state forecasts are three separate one-way broadcast systems: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WebGIS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maps, SMS bulletins, static text advisories. A user has to manually find and reconcile all three to answer one operational question.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ORCA replaces that manual correlation with an orchestrator agent that decomposes a query, dispatches specialized sub-agents to each data source in parallel, and returns one synthesized, source-cited answer.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4EB6BBC2-1271-10C1-E8C5-C8FC8FD3B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60" y="2905780"/>
            <a:ext cx="120626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Key Features: </a:t>
            </a:r>
          </a:p>
          <a:p>
            <a:pPr algn="just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A6086F99-A374-AEA8-8815-CA34F228E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977" y="3209019"/>
            <a:ext cx="6153911" cy="3329896"/>
          </a:xfrm>
        </p:spPr>
        <p:txBody>
          <a:bodyPr/>
          <a:lstStyle/>
          <a:p>
            <a:pPr algn="just">
              <a:buSzPct val="140000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Multi-Agent Reasoning Core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Nine specialized agents handle planning, data discovery, weather intelligence, ocean analytics, geospatial reasoning, risk assessment, visualization, and reporting.</a:t>
            </a:r>
          </a:p>
          <a:p>
            <a:pPr lvl="1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Each agent is grounded in a real government data source, not one model guessing across domains.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SzPct val="150000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Conversational, Multi-Turn Access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Supports follow-up and refinement, such as “what about further north?”</a:t>
            </a:r>
          </a:p>
          <a:p>
            <a:pPr lvl="1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Automatic language detection, with responses in Indian regional languages and audio responses via text-to-speech</a:t>
            </a:r>
          </a:p>
          <a:p>
            <a:pPr lvl="1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Output via text + maps/charts/geospatial visualizations and update it with follow-up</a:t>
            </a:r>
          </a:p>
        </p:txBody>
      </p:sp>
      <p:sp>
        <p:nvSpPr>
          <p:cNvPr id="16" name="Content Placeholder 20">
            <a:extLst>
              <a:ext uri="{FF2B5EF4-FFF2-40B4-BE49-F238E27FC236}">
                <a16:creationId xmlns:a16="http://schemas.microsoft.com/office/drawing/2014/main" id="{77AE03F6-472E-7764-6F7F-18713508A515}"/>
              </a:ext>
            </a:extLst>
          </p:cNvPr>
          <p:cNvSpPr txBox="1">
            <a:spLocks/>
          </p:cNvSpPr>
          <p:nvPr/>
        </p:nvSpPr>
        <p:spPr>
          <a:xfrm>
            <a:off x="6354097" y="3209019"/>
            <a:ext cx="5800345" cy="328237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SzPct val="150000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Explainable, Cited Answers</a:t>
            </a:r>
          </a:p>
          <a:p>
            <a:pPr lvl="1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Every recommendation states which source it drew from.</a:t>
            </a:r>
          </a:p>
          <a:p>
            <a:pPr lvl="1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Reasoning path is shown alongside the verdict, not just the final answer.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SzPct val="150000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Proactive Hazard and Geofencing Alerts</a:t>
            </a:r>
          </a:p>
          <a:p>
            <a:pPr lvl="1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Cyclone, lightning, and high-wave alerts pushed based on the user's location.</a:t>
            </a:r>
          </a:p>
          <a:p>
            <a:pPr lvl="1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Geofencing for international maritime boundaries, restricted waters, marine protected areas, and ecologically sensitive zones.</a:t>
            </a:r>
          </a:p>
          <a:p>
            <a:pPr algn="just">
              <a:buSzPct val="150000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Route and Navigation Advisory</a:t>
            </a:r>
          </a:p>
          <a:p>
            <a:pPr lvl="1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Suggests safer routing by weighing forecast wave and wind conditions.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4F3FD5-DBD6-BA1F-8AA1-29FAE6DC75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00" b="7315"/>
          <a:stretch>
            <a:fillRect/>
          </a:stretch>
        </p:blipFill>
        <p:spPr>
          <a:xfrm>
            <a:off x="7091338" y="2273418"/>
            <a:ext cx="3964862" cy="39182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28EA0DD-E7A5-1DE5-CE58-64CD4FA839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087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Don't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Expecto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7ECD2-E123-06A5-33C4-2D0D0F027376}"/>
              </a:ext>
            </a:extLst>
          </p:cNvPr>
          <p:cNvSpPr txBox="1"/>
          <p:nvPr/>
        </p:nvSpPr>
        <p:spPr>
          <a:xfrm>
            <a:off x="194586" y="1083852"/>
            <a:ext cx="579957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SzPct val="90000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Core Components</a:t>
            </a:r>
          </a:p>
          <a:p>
            <a:pPr marL="171450" indent="-171450" algn="just">
              <a:buSzPct val="90000"/>
              <a:buFont typeface="Courier New" panose="02070309020205020404" pitchFamily="49" charset="0"/>
              <a:buChar char="o"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User Interface (Web Frontend)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Framework: Next.js (SSR for fast initial load) with PWA to provide app support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Map layer: Leaflet or Google Maps, rendering PFZ zones, cyclone tracks, and geofenced boundaries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Real-time: WebSocket client for streaming agent responses</a:t>
            </a:r>
          </a:p>
          <a:p>
            <a:pPr marL="342900" indent="-342900" algn="just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Agent Core (Backend)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Framework: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(async), serving the orchestration layer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Agent Framework: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AI, type-safe orchestrator plus nine specialized sub-agents, with native MCP client support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Sarvam AI: Indic-tuned chat model, plus Saaras (speech-to-text, 22 Indian languages) and Bulbul (text-to-speech, 11 Indian languages)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Handles voice input and audio responses natively, without a separate translation layer</a:t>
            </a:r>
          </a:p>
          <a:p>
            <a:pPr marL="342900" indent="-342900" algn="just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Data Management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Database: PostgreSQL, storing user context and agent decision audit trail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Vector store: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pgvector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embedding CMFRI stock reports and INCOIS advisory archive for RAG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Caching: Redis for cache and response cache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86DA9F-1C43-052D-FD54-57187206328F}"/>
              </a:ext>
            </a:extLst>
          </p:cNvPr>
          <p:cNvSpPr txBox="1"/>
          <p:nvPr/>
        </p:nvSpPr>
        <p:spPr>
          <a:xfrm>
            <a:off x="6188744" y="1083852"/>
            <a:ext cx="600325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Real-Time Data (MCP Tools)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IMD API: cyclone track, cyclone wind warning, lightning data, fishermen warning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INCOIS PFZ Advisory + Ocean State Forecast: nearest fishing zone, tide/wave/current conditions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56146A-5D6C-C9F8-9589-7B72C6282B61}"/>
              </a:ext>
            </a:extLst>
          </p:cNvPr>
          <p:cNvSpPr txBox="1"/>
          <p:nvPr/>
        </p:nvSpPr>
        <p:spPr>
          <a:xfrm>
            <a:off x="7852200" y="6077763"/>
            <a:ext cx="320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SzPct val="150000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Fig 1.1: ORCA 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107122F-3B8F-D62D-7BEC-BC5DBD395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46F2F9A0-6997-F5EB-4450-6A4BECB6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42" name="TextBox 8">
            <a:extLst>
              <a:ext uri="{FF2B5EF4-FFF2-40B4-BE49-F238E27FC236}">
                <a16:creationId xmlns:a16="http://schemas.microsoft.com/office/drawing/2014/main" id="{5042190C-11C6-FCF1-8AEB-401216A84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14" y="1120794"/>
            <a:ext cx="1190897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Feasibility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just"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Technical Feasibility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Built on free, publicly documented government data sources (IMD, INCOIS, MOSDAC) plus Open-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Meteo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as a no-registration fallback.</a:t>
            </a:r>
          </a:p>
          <a:p>
            <a:pPr marL="742950" lvl="1" indent="-28575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Claude Agent SDK supports multi-agent orchestration and custom MCP tools natively, so the team builds domain tool wrappers, not an agent framework from scratch.</a:t>
            </a:r>
          </a:p>
          <a:p>
            <a:pPr marL="742950" lvl="1" indent="-28575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Open-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Meteo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runs as a working data source whenever IMD or INCOIS registration is still pending, so development never stalls on an external approval.</a:t>
            </a:r>
          </a:p>
          <a:p>
            <a:pPr marL="742950" lvl="1" indent="-28575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AI enforces typed, schema-validated outputs and automatically retries on a malformed response instead of passing it through - this is the actual mechanism behind response reliability, not just a stated policy.</a:t>
            </a:r>
          </a:p>
          <a:p>
            <a:pPr marL="342900" indent="-342900" algn="just">
              <a:buSzPct val="150000"/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Operational Feasibility</a:t>
            </a:r>
          </a:p>
          <a:p>
            <a:pPr marL="742950" lvl="1" indent="-28575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Every alert cross-references its original government source before display; if that source is stale or unreachable, the Risk Assessment agent flags a data gap instead of defaulting to “no threat.”</a:t>
            </a:r>
          </a:p>
          <a:p>
            <a:pPr marL="742950" lvl="1" indent="-28575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Geofencing boundary layers pull directly from Bhuvan and re-validate on a scheduled refresh, keeping restricted and protected-zone data current rather than static.</a:t>
            </a:r>
          </a:p>
          <a:p>
            <a:pPr marL="742950" lvl="1" indent="-285750" algn="just">
              <a:buSzPct val="90000"/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Sarvam AI's Indic-tuned models cover speech and text across major regional languages, so the team isn't building translation or transcription from scratch.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Viability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4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No recurring data-licensing cost. Every source in the pipeline is free or government-published.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Extends directly to institutional users (Coast Guard, State disaster management agencies) without an architecture change.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 containerized, cloud-native deployment strategy ensures the solution is highly scalable, ready to support a growing user base across various institutions.</a:t>
            </a: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New data sources become new MCP tools, not a system rewrite, keeping long-term maintenance cost low.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D2500B7-E178-E304-C638-B99551BE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44" name="Footer Placeholder 6">
            <a:extLst>
              <a:ext uri="{FF2B5EF4-FFF2-40B4-BE49-F238E27FC236}">
                <a16:creationId xmlns:a16="http://schemas.microsoft.com/office/drawing/2014/main" id="{87DEDA71-0BEB-07B2-D653-52801BE93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46" name="Oval 45" descr="Your startup LOGO">
            <a:extLst>
              <a:ext uri="{FF2B5EF4-FFF2-40B4-BE49-F238E27FC236}">
                <a16:creationId xmlns:a16="http://schemas.microsoft.com/office/drawing/2014/main" id="{86B75176-F12F-D3F8-A5C0-EB09C739838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087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Don't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Expecto</a:t>
            </a:r>
            <a:endParaRPr lang="en-IN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C4B84BC-02F8-1450-FBB5-7A19D081B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411C01-378B-C936-4791-D0F316048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A1CBF1-A4C2-7EC3-B5F2-2CBC01738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446CBA5-F641-121B-6D50-0AA37DACA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" y="1173687"/>
            <a:ext cx="6092952" cy="5201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Fisherman Safety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 estimated 7 million people in India depend on fishing for their livelihood, along a coastline of roughly 7,500 km (INCOIS/Ministry of Earth Sciences).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Proactive, geofenced alerts and route advisories remove the need to check three separate systems before departure.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 Impact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dirty="0"/>
              <a:t>A 2002 study found that PFZ advisories saved ₹545 crore a year nationally at just 10% adoption, rising to ₹1,635 crore at 25% adoption.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dirty="0"/>
              <a:t>Most fishermen skip these advisories since they're a text bulletin or map, not in their language. ORCA fixes access via voice/chat in local languages, not new data.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Operational Efficiency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Coastal authorities and disaster agencies get one conversational interface instead of checking IMD, INCOIS, and Bhuvan separately during an active weather event.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DDC1B74-68F1-889A-1F47-5DD4B38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20310E51-BD5B-112E-577E-666D8491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D3344B9E-55ED-E077-94A8-09B764CE9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2128" y="1212278"/>
            <a:ext cx="588743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Digital Inclusion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Regional-language, conversational access lowers the literacy and technical barrier that English-only bulletins and static GIS maps currently impose.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Voice/text access reaches users who can't navigate a </a:t>
            </a:r>
            <a:r>
              <a:rPr lang="en-US" sz="16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WebGIS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map interface directly.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Audio output reaches users with limited reading fluency, not just non-English speakers.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Institutional Impact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Extends to Coast Guard and State disaster management agencies as institutional users without an architecture change.</a:t>
            </a: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One audit-trailed reasoning log per query supports post-event review, not just real-time alerting.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Direct Theme Alignment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 algn="just">
              <a:buSzPct val="9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PS is filed under Disaster Management. Proactive hazard alerting, geofencing, and route advisory speak directly to that theme, ahead of the fisheries-productivity features.</a:t>
            </a:r>
          </a:p>
        </p:txBody>
      </p:sp>
      <p:sp>
        <p:nvSpPr>
          <p:cNvPr id="16" name="Oval 15" descr="Your startup LOGO">
            <a:extLst>
              <a:ext uri="{FF2B5EF4-FFF2-40B4-BE49-F238E27FC236}">
                <a16:creationId xmlns:a16="http://schemas.microsoft.com/office/drawing/2014/main" id="{19461590-4803-2C5C-DCBE-2A48F935B3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087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Don't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Expecto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A6E1573-0837-B22C-F8E8-433472F46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57C95C9-E8F0-1E4D-C3BD-60A0549D3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56F1080-725A-970E-F120-BF21D9627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D11800E2-5C34-2882-F41B-2893CF5B5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4825"/>
            <a:ext cx="6309360" cy="433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SzPct val="150000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</a:p>
          <a:p>
            <a:pPr>
              <a:buSzPct val="150000"/>
            </a:pPr>
            <a:endParaRPr lang="en-IN" sz="1600" dirty="0">
              <a:solidFill>
                <a:srgbClr val="39B0D4"/>
              </a:solidFill>
              <a:latin typeface="Arial" panose="020B0604020202020204" pitchFamily="34" charset="0"/>
              <a:cs typeface="Arial" panose="020B060402020202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lvl="0" indent="-285750">
              <a:buSzPct val="150000"/>
              <a:buFont typeface="Arial" panose="020B0604020202020204" pitchFamily="34" charset="0"/>
              <a:buChar char="•"/>
            </a:pPr>
            <a:r>
              <a:rPr lang="en-IN" sz="1600" dirty="0">
                <a:hlinkClick r:id="rId4"/>
              </a:rPr>
              <a:t>https://incois.gov.in/site/dataholdings.jsp</a:t>
            </a:r>
            <a:endParaRPr lang="en-IN" sz="1600" dirty="0"/>
          </a:p>
          <a:p>
            <a:pPr marL="285750" lvl="0" indent="-285750">
              <a:buSzPct val="150000"/>
              <a:buFont typeface="Arial" panose="020B0604020202020204" pitchFamily="34" charset="0"/>
              <a:buChar char="•"/>
            </a:pPr>
            <a:r>
              <a:rPr lang="en-IN" sz="1600" dirty="0">
                <a:hlinkClick r:id="rId5"/>
              </a:rPr>
              <a:t>https://mosdac.gov.in</a:t>
            </a:r>
            <a:endParaRPr lang="en-IN" sz="1600" dirty="0"/>
          </a:p>
          <a:p>
            <a:pPr marL="285750" lvl="0" indent="-285750">
              <a:buSzPct val="150000"/>
              <a:buFont typeface="Arial" panose="020B0604020202020204" pitchFamily="34" charset="0"/>
              <a:buChar char="•"/>
            </a:pPr>
            <a:r>
              <a:rPr lang="en-IN" sz="1600" dirty="0">
                <a:hlinkClick r:id="rId6"/>
              </a:rPr>
              <a:t>https://bhuvan.nrsc.gov.in</a:t>
            </a:r>
            <a:endParaRPr lang="en-IN" sz="1600" dirty="0"/>
          </a:p>
          <a:p>
            <a:pPr lvl="0"/>
            <a:endParaRPr lang="en-IN" sz="1600" b="1" dirty="0">
              <a:latin typeface="Arial" panose="020B0604020202020204" pitchFamily="34" charset="0"/>
              <a:cs typeface="Arial" panose="020B0604020202020204" pitchFamily="34" charset="0"/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SzPct val="150000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Real-Time / MCP Sources</a:t>
            </a:r>
          </a:p>
          <a:p>
            <a:pPr>
              <a:buSzPct val="150000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SzPct val="150000"/>
              <a:buFont typeface="Arial" panose="020B0604020202020204" pitchFamily="34" charset="0"/>
              <a:buChar char="•"/>
            </a:pPr>
            <a:r>
              <a:rPr lang="en-IN" sz="1600" dirty="0">
                <a:hlinkClick r:id="rId8"/>
              </a:rPr>
              <a:t>https://api.imd.gov.in</a:t>
            </a:r>
            <a:endParaRPr lang="en-IN" sz="1600" dirty="0"/>
          </a:p>
          <a:p>
            <a:pPr marL="285750" lvl="0" indent="-285750">
              <a:buSzPct val="150000"/>
              <a:buFont typeface="Arial" panose="020B0604020202020204" pitchFamily="34" charset="0"/>
              <a:buChar char="•"/>
            </a:pPr>
            <a:r>
              <a:rPr lang="en-IN" sz="1600" dirty="0">
                <a:hlinkClick r:id="rId9"/>
              </a:rPr>
              <a:t>https://incois.gov.in/MarineFisheries/PfzWebGis</a:t>
            </a:r>
            <a:endParaRPr lang="en-IN" sz="1600" dirty="0"/>
          </a:p>
          <a:p>
            <a:pPr marL="285750" lvl="0" indent="-285750">
              <a:buSzPct val="150000"/>
              <a:buFont typeface="Arial" panose="020B0604020202020204" pitchFamily="34" charset="0"/>
              <a:buChar char="•"/>
            </a:pPr>
            <a:r>
              <a:rPr lang="en-IN" sz="1600" dirty="0">
                <a:hlinkClick r:id="rId10"/>
              </a:rPr>
              <a:t>https://incois.gov.in/MarineFisheries/TextDataHome</a:t>
            </a:r>
            <a:endParaRPr lang="en-IN" sz="1600" dirty="0"/>
          </a:p>
          <a:p>
            <a:pPr marL="285750" lvl="0" indent="-285750">
              <a:buSzPct val="150000"/>
              <a:buFont typeface="Arial" panose="020B0604020202020204" pitchFamily="34" charset="0"/>
              <a:buChar char="•"/>
            </a:pPr>
            <a:r>
              <a:rPr lang="en-IN" sz="1600" dirty="0">
                <a:hlinkClick r:id="rId11"/>
              </a:rPr>
              <a:t>https://incois.gov.in/site/services/osf.jsp</a:t>
            </a:r>
            <a:endParaRPr lang="en-IN" sz="1600" dirty="0"/>
          </a:p>
          <a:p>
            <a:pPr marL="285750" lvl="0" indent="-285750">
              <a:buSzPct val="150000"/>
              <a:buFont typeface="Arial" panose="020B0604020202020204" pitchFamily="34" charset="0"/>
              <a:buChar char="•"/>
            </a:pPr>
            <a:r>
              <a:rPr lang="en-IN" sz="1600" dirty="0">
                <a:hlinkClick r:id="rId12"/>
              </a:rPr>
              <a:t>https://open-meteo.com/en/docs/marine-weather-api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SzPct val="150000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SzPct val="150000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PFZ Advisory Research / Economic Study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IN" sz="1600" dirty="0">
                <a:hlinkClick r:id="rId13"/>
              </a:rPr>
              <a:t>https://arxiv.org/pdf/2411.10050</a:t>
            </a:r>
            <a:r>
              <a:rPr lang="en-IN" sz="1600" dirty="0"/>
              <a:t> (cites the 2002 Nayak et al. PFZ savings study with the ₹545 crore / ₹1,635 crore figures)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1429176-68A6-FF9E-35DA-61E93642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2" name="Footer Placeholder 6">
            <a:extLst>
              <a:ext uri="{FF2B5EF4-FFF2-40B4-BE49-F238E27FC236}">
                <a16:creationId xmlns:a16="http://schemas.microsoft.com/office/drawing/2014/main" id="{BAF16E0E-4DBC-1F99-CFFA-8824D02E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6F5DBE7E-1663-6341-82DE-C28C8B8B9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9" y="1059580"/>
            <a:ext cx="58478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Comparison with Existing Systems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B961AC5-C71C-C123-DA63-7C3861F1C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237955"/>
              </p:ext>
            </p:extLst>
          </p:nvPr>
        </p:nvGraphicFramePr>
        <p:xfrm>
          <a:off x="6250200" y="1550400"/>
          <a:ext cx="5847807" cy="385876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37817">
                  <a:extLst>
                    <a:ext uri="{9D8B030D-6E8A-4147-A177-3AD203B41FA5}">
                      <a16:colId xmlns:a16="http://schemas.microsoft.com/office/drawing/2014/main" val="101649040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05411386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949316598"/>
                    </a:ext>
                  </a:extLst>
                </a:gridCol>
                <a:gridCol w="1196558">
                  <a:extLst>
                    <a:ext uri="{9D8B030D-6E8A-4147-A177-3AD203B41FA5}">
                      <a16:colId xmlns:a16="http://schemas.microsoft.com/office/drawing/2014/main" val="264820297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INCOIS PEZ </a:t>
                      </a:r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WebGIS</a:t>
                      </a:r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Generic AI Chatbot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486778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Multi-source data 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(PFZ only)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(no live grounding)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391927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Conversational, multi-turn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293247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Explainable, cited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87234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 language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Applicable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137436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Proactive geofenced alerts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169677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Route/navigation advisory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334921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Grounded in live govt data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898378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Audit trail / reasoning 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  <a:endParaRPr lang="en-IN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2930667"/>
                  </a:ext>
                </a:extLst>
              </a:tr>
            </a:tbl>
          </a:graphicData>
        </a:graphic>
      </p:graphicFrame>
      <p:sp>
        <p:nvSpPr>
          <p:cNvPr id="26" name="Oval 25" descr="Your startup LOGO">
            <a:extLst>
              <a:ext uri="{FF2B5EF4-FFF2-40B4-BE49-F238E27FC236}">
                <a16:creationId xmlns:a16="http://schemas.microsoft.com/office/drawing/2014/main" id="{5BBEEC99-64EF-7C9D-029A-13284C19AD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0875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Don't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Expecto</a:t>
            </a:r>
            <a:endParaRPr lang="en-IN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648E53B-9959-5C23-99EA-E0036495976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7671</TotalTime>
  <Words>1500</Words>
  <Application>Microsoft Office PowerPoint</Application>
  <PresentationFormat>Widescreen</PresentationFormat>
  <Paragraphs>174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Courier New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TANVEER SINGH</cp:lastModifiedBy>
  <cp:revision>155</cp:revision>
  <dcterms:created xsi:type="dcterms:W3CDTF">2013-12-12T18:46:50Z</dcterms:created>
  <dcterms:modified xsi:type="dcterms:W3CDTF">2026-09-07T14:23:49Z</dcterms:modified>
  <cp:category/>
</cp:coreProperties>
</file>